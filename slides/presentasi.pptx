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395728"/>
            <a:ext cx="1371600" cy="68580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600" b="1">
                <a:solidFill>
                  <a:srgbClr val="111A24"/>
                </a:solidFill>
                <a:latin typeface="Arial"/>
              </a:rPr>
              <a:t>Schema Migration di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212C38"/>
                </a:solidFill>
                <a:latin typeface="Arial"/>
              </a:rPr>
              <a:t>Falahudin Halim Shariski</a:t>
            </a:r>
            <a:r>
              <a:rPr sz="2000" b="0">
                <a:solidFill>
                  <a:srgbClr val="212C38"/>
                </a:solidFill>
                <a:latin typeface="Arial"/>
              </a:rPr>
              <a:t> — Technical Lead, AIG Nusa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1455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>
                <a:solidFill>
                  <a:srgbClr val="212C38"/>
                </a:solidFill>
                <a:latin typeface="Arial"/>
              </a:rPr>
              <a:t>HiColleagues Sharing Session Vol. 07 · 11 Agustus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Repo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6192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Semua kode dan demo ada di: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38349"/>
            <a:ext cx="10637215" cy="4629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30" b="1">
                <a:solidFill>
                  <a:srgbClr val="008CB0"/>
                </a:solidFill>
                <a:latin typeface="JetBrains Mono"/>
              </a:rPr>
              <a:t>github.com/shariski/go-migration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56713"/>
            <a:ext cx="10637215" cy="823976"/>
          </a:xfrm>
          <a:prstGeom prst="roundRect">
            <a:avLst>
              <a:gd name="adj" fmla="val 4000"/>
            </a:avLst>
          </a:prstGeom>
          <a:solidFill>
            <a:srgbClr val="ECF2F6"/>
          </a:solidFill>
          <a:ln w="9525">
            <a:solidFill>
              <a:srgbClr val="C9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5448" tIns="82296" bIns="82296"/>
          <a:lstStyle/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make up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make demo-gorm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Masalah yang mau diselesaikan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6192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Struktur database berbeda-beda antar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38349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Di lokal kolomnya ada. Di staging ada. Di production nggak 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40508"/>
            <a:ext cx="10637215" cy="538988"/>
          </a:xfrm>
          <a:prstGeom prst="roundRect">
            <a:avLst>
              <a:gd name="adj" fmla="val 4000"/>
            </a:avLst>
          </a:prstGeom>
          <a:solidFill>
            <a:srgbClr val="ECF2F6"/>
          </a:solidFill>
          <a:ln w="9525">
            <a:solidFill>
              <a:srgbClr val="C9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5448" tIns="82296" bIns="82296"/>
          <a:lstStyle/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ERROR: column "phone_number" of relation "users" does not exist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8952"/>
            <a:ext cx="10637215" cy="693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Penyebabnya bukan SQL-nya salah, tapi nggak ada catatan SQL mana yang sudah dijalankan di server mana.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Apa itu schema migration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6192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Version control untuk struktur database.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38349"/>
            <a:ext cx="10637215" cy="693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Setiap perubahan struktur jadi satu file, punya nomor urut, dan tercatat mana yang sudah dijalankan di mana.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Yang diselesaikan schema migration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6192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212C38"/>
                </a:solidFill>
                <a:latin typeface="Arial"/>
              </a:rPr>
              <a:t>Reproducible</a:t>
            </a:r>
            <a:r>
              <a:rPr sz="2100" b="0">
                <a:solidFill>
                  <a:srgbClr val="212C38"/>
                </a:solidFill>
                <a:latin typeface="Arial"/>
              </a:rPr>
              <a:t> — database baru bisa dibangun ulang dari nol, hasilnya sama.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38349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212C38"/>
                </a:solidFill>
                <a:latin typeface="Arial"/>
              </a:rPr>
              <a:t>Kolaborasi</a:t>
            </a:r>
            <a:r>
              <a:rPr sz="2100" b="0">
                <a:solidFill>
                  <a:srgbClr val="212C38"/>
                </a:solidFill>
                <a:latin typeface="Arial"/>
              </a:rPr>
              <a:t> — tarik kode, jalankan migration, struktur langsung sinkron.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40508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212C38"/>
                </a:solidFill>
                <a:latin typeface="Arial"/>
              </a:rPr>
              <a:t>Otomatis</a:t>
            </a:r>
            <a:r>
              <a:rPr sz="2100" b="0">
                <a:solidFill>
                  <a:srgbClr val="212C38"/>
                </a:solidFill>
                <a:latin typeface="Arial"/>
              </a:rPr>
              <a:t> — CI/CD bisa menjalankan sendiri.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42665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212C38"/>
                </a:solidFill>
                <a:latin typeface="Arial"/>
              </a:rPr>
              <a:t>Jejak perubahan</a:t>
            </a:r>
            <a:r>
              <a:rPr sz="2100" b="0">
                <a:solidFill>
                  <a:srgbClr val="212C38"/>
                </a:solidFill>
                <a:latin typeface="Arial"/>
              </a:rPr>
              <a:t> — bisa dilacak kolom ini kapan dan kenapa ditambahkan.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Cara konvensional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6192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File SQL dikumpulkan di satu folder, dijalankan manual.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38349"/>
            <a:ext cx="10637215" cy="1678940"/>
          </a:xfrm>
          <a:prstGeom prst="roundRect">
            <a:avLst>
              <a:gd name="adj" fmla="val 4000"/>
            </a:avLst>
          </a:prstGeom>
          <a:solidFill>
            <a:srgbClr val="ECF2F6"/>
          </a:solidFill>
          <a:ln w="9525">
            <a:solidFill>
              <a:srgbClr val="C9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5448" tIns="82296" bIns="82296"/>
          <a:lstStyle/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migrations/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create_users.sql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add_phone.sql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fix_email_index.sql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add_phone_v2.sql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36746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Koordinasinya lewat chat atau dokumen.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Kenapa cara konvensional gagal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6192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Yang menyimpan state-nya ingatan manusia.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38349"/>
            <a:ext cx="10637215" cy="17495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•   </a:t>
            </a:r>
            <a:r>
              <a:rPr sz="2100" b="0">
                <a:solidFill>
                  <a:srgbClr val="212C38"/>
                </a:solidFill>
                <a:latin typeface="Arial"/>
              </a:rPr>
              <a:t>Nggak ada catatan mana yang sudah dijalankan</a:t>
            </a:r>
          </a:p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•   </a:t>
            </a:r>
            <a:r>
              <a:rPr sz="2100" b="0">
                <a:solidFill>
                  <a:srgbClr val="212C38"/>
                </a:solidFill>
                <a:latin typeface="Arial"/>
              </a:rPr>
              <a:t>Urutan eksekusi ambigu</a:t>
            </a:r>
          </a:p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•   </a:t>
            </a:r>
            <a:r>
              <a:rPr sz="2100" b="0">
                <a:solidFill>
                  <a:srgbClr val="212C38"/>
                </a:solidFill>
                <a:latin typeface="Arial"/>
              </a:rPr>
              <a:t>Dijalankan dua kali bisa error</a:t>
            </a:r>
          </a:p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•   </a:t>
            </a:r>
            <a:r>
              <a:rPr sz="2100" b="0">
                <a:solidFill>
                  <a:srgbClr val="212C38"/>
                </a:solidFill>
                <a:latin typeface="Arial"/>
              </a:rPr>
              <a:t>Setup lokal untuk anggota tim baru jadi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70782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File SQL-nya sendiri sudah benar. Yang nggak ada itu pencatatnya.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GORM AutoMigrate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6192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GORM adalah ORM yang paling banyak dipakai di Go.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38349"/>
            <a:ext cx="10637215" cy="538988"/>
          </a:xfrm>
          <a:prstGeom prst="roundRect">
            <a:avLst>
              <a:gd name="adj" fmla="val 4000"/>
            </a:avLst>
          </a:prstGeom>
          <a:solidFill>
            <a:srgbClr val="ECF2F6"/>
          </a:solidFill>
          <a:ln w="9525">
            <a:solidFill>
              <a:srgbClr val="C9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5448" tIns="82296" bIns="82296"/>
          <a:lstStyle/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db.AutoMigrate(&amp;User{})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96794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Struktur tabel disesuaikan dengan struct.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Cara kerja AutoMigrate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6192"/>
            <a:ext cx="10637215" cy="17495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1.  </a:t>
            </a:r>
            <a:r>
              <a:rPr sz="2100" b="0">
                <a:solidFill>
                  <a:srgbClr val="212C38"/>
                </a:solidFill>
                <a:latin typeface="Arial"/>
              </a:rPr>
              <a:t>Baca struct pakai reflection</a:t>
            </a:r>
          </a:p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2.  </a:t>
            </a:r>
            <a:r>
              <a:rPr sz="2100" b="0">
                <a:solidFill>
                  <a:srgbClr val="212C38"/>
                </a:solidFill>
                <a:latin typeface="Arial"/>
              </a:rPr>
              <a:t>Query ke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information_schema</a:t>
            </a:r>
            <a:r>
              <a:rPr sz="2100" b="0">
                <a:solidFill>
                  <a:srgbClr val="212C38"/>
                </a:solidFill>
                <a:latin typeface="Arial"/>
              </a:rPr>
              <a:t> untuk tahu kolom yang ada sekarang</a:t>
            </a:r>
          </a:p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3.  </a:t>
            </a:r>
            <a:r>
              <a:rPr sz="2100" b="0">
                <a:solidFill>
                  <a:srgbClr val="212C38"/>
                </a:solidFill>
                <a:latin typeface="Arial"/>
              </a:rPr>
              <a:t>Bandingkan keduanya</a:t>
            </a:r>
          </a:p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4.  </a:t>
            </a:r>
            <a:r>
              <a:rPr sz="2100" b="0">
                <a:solidFill>
                  <a:srgbClr val="212C38"/>
                </a:solidFill>
                <a:latin typeface="Arial"/>
              </a:rPr>
              <a:t>Generate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ALTER TABLE</a:t>
            </a:r>
            <a:r>
              <a:rPr sz="2100" b="0">
                <a:solidFill>
                  <a:srgbClr val="212C38"/>
                </a:solidFill>
                <a:latin typeface="Arial"/>
              </a:rPr>
              <a:t> untuk yang belum 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68623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Perbandingan di langkah 3 cuma satu arah: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970781"/>
            <a:ext cx="41148" cy="346710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3970781"/>
            <a:ext cx="10436047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 i="1">
                <a:solidFill>
                  <a:srgbClr val="111A24"/>
                </a:solidFill>
                <a:latin typeface="Arial"/>
              </a:rPr>
              <a:t>Field mana di struct yang belum ada di tabel?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72939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Pertanyaan kebalikannya nggak pernah ditanyakan.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Demo: perubahan struct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36192"/>
            <a:ext cx="10637215" cy="2248916"/>
          </a:xfrm>
          <a:prstGeom prst="roundRect">
            <a:avLst>
              <a:gd name="adj" fmla="val 4000"/>
            </a:avLst>
          </a:prstGeom>
          <a:solidFill>
            <a:srgbClr val="ECF2F6"/>
          </a:solidFill>
          <a:ln w="9525">
            <a:solidFill>
              <a:srgbClr val="C9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5448" tIns="82296" bIns="82296"/>
          <a:lstStyle/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// Sebelum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type User struct {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  ID    uint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  Name  string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  Email string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  Phone string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004564"/>
            <a:ext cx="10637215" cy="2248916"/>
          </a:xfrm>
          <a:prstGeom prst="roundRect">
            <a:avLst>
              <a:gd name="adj" fmla="val 4000"/>
            </a:avLst>
          </a:prstGeom>
          <a:solidFill>
            <a:srgbClr val="ECF2F6"/>
          </a:solidFill>
          <a:ln w="9525">
            <a:solidFill>
              <a:srgbClr val="C9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5448" tIns="82296" bIns="82296"/>
          <a:lstStyle/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// Sesudah — Phone dihapus, Name diganti FullName, Age ditambah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type User struct {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  ID       uint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  FullName string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  Email    string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  Age      int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SQL yang dijalankan GORM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36192"/>
            <a:ext cx="10637215" cy="823976"/>
          </a:xfrm>
          <a:prstGeom prst="roundRect">
            <a:avLst>
              <a:gd name="adj" fmla="val 4000"/>
            </a:avLst>
          </a:prstGeom>
          <a:solidFill>
            <a:srgbClr val="ECF2F6"/>
          </a:solidFill>
          <a:ln w="9525">
            <a:solidFill>
              <a:srgbClr val="C9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5448" tIns="82296" bIns="82296"/>
          <a:lstStyle/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ALTER TABLE "users" ADD "full_name" text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ALTER TABLE "users" ADD "age" bigint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79623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Hanya dua statement. Nggak ada error dan nggak ada warning.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Hasil di database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36192"/>
            <a:ext cx="10637215" cy="2533904"/>
          </a:xfrm>
          <a:prstGeom prst="roundRect">
            <a:avLst>
              <a:gd name="adj" fmla="val 4000"/>
            </a:avLst>
          </a:prstGeom>
          <a:solidFill>
            <a:srgbClr val="ECF2F6"/>
          </a:solidFill>
          <a:ln w="9525">
            <a:solidFill>
              <a:srgbClr val="C9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5448" tIns="82296" bIns="82296"/>
          <a:lstStyle/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 Column   |  Type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------------+--------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id         | bigint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name       | text     &lt;- masih ada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email      | text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phone      | text     &lt;- masih ada, padahal sudah dihapus dari struct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full_name  | text     &lt;- kolom baru, kosong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age        | bigint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289552"/>
            <a:ext cx="10637215" cy="1393952"/>
          </a:xfrm>
          <a:prstGeom prst="roundRect">
            <a:avLst>
              <a:gd name="adj" fmla="val 4000"/>
            </a:avLst>
          </a:prstGeom>
          <a:solidFill>
            <a:srgbClr val="ECF2F6"/>
          </a:solidFill>
          <a:ln w="9525">
            <a:solidFill>
              <a:srgbClr val="C9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5448" tIns="82296" bIns="82296"/>
          <a:lstStyle/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id |     name     | full_name |   phone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----+--------------+-----------+-----------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1 | Budi Santoso |           | 0812-1111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2 | Siti Rahayu  |           | 0813-2222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02960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Data lama tetap di kolom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name</a:t>
            </a:r>
            <a:r>
              <a:rPr sz="2100" b="0">
                <a:solidFill>
                  <a:srgbClr val="212C38"/>
                </a:solidFill>
                <a:latin typeface="Arial"/>
              </a:rPr>
              <a:t>, yang di kode sudah nggak 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Batasan AutoMigrate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645919"/>
          <a:ext cx="10637215" cy="37490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18607"/>
                <a:gridCol w="5318608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11A24"/>
                          </a:solidFill>
                          <a:latin typeface="Arial"/>
                        </a:rPr>
                        <a:t>Operasi</a:t>
                      </a:r>
                    </a:p>
                  </a:txBody>
                  <a:tcPr marL="118872" marR="118872" marT="36576" marB="36576" anchor="ctr">
                    <a:solidFill>
                      <a:srgbClr val="DD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11A24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118872" marR="118872" marT="36576" marB="36576" anchor="ctr">
                    <a:solidFill>
                      <a:srgbClr val="DDEFF6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Tambah kolom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Bisa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Drop kolom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Nggak pernah dilakukan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Rename kolom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Bikin kolom baru, data lama ditinggal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Ubah tipe data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Terbatas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Backfill data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Nggak ditangani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Rollback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Nggak ada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Catatan versi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Nggak ada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Konsekuensi paling besar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6192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AutoMigrate nggak menyimpan versi.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38349"/>
            <a:ext cx="10637215" cy="693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Pertanyaan </a:t>
            </a:r>
            <a:r>
              <a:rPr sz="2100" b="0" i="1">
                <a:solidFill>
                  <a:srgbClr val="212C38"/>
                </a:solidFill>
                <a:latin typeface="Arial"/>
              </a:rPr>
              <a:t>"production sekarang di schema versi berapa?"</a:t>
            </a:r>
            <a:r>
              <a:rPr sz="2100" b="0">
                <a:solidFill>
                  <a:srgbClr val="212C38"/>
                </a:solidFill>
                <a:latin typeface="Arial"/>
              </a:rPr>
              <a:t> nggak bisa dijawab, karena nggak ada yang mencatat.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Posisi AutoMigrate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6192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AutoMigrate bukan migration system, tapi schema sync-er.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38349"/>
            <a:ext cx="10637215" cy="693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Cocok untuk prototyping lokal, test fixture, dan project yang datanya boleh hilang.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7218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Masalah muncul ketika dipakai untuk hal yang di luar cakupannya.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golang-migrate: struktur 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6192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Satu perubahan terdiri dari dua 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38349"/>
            <a:ext cx="10637215" cy="2248916"/>
          </a:xfrm>
          <a:prstGeom prst="roundRect">
            <a:avLst>
              <a:gd name="adj" fmla="val 4000"/>
            </a:avLst>
          </a:prstGeom>
          <a:solidFill>
            <a:srgbClr val="ECF2F6"/>
          </a:solidFill>
          <a:ln w="9525">
            <a:solidFill>
              <a:srgbClr val="C9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5448" tIns="82296" bIns="82296"/>
          <a:lstStyle/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migrations/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000001_create_users.up.sql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000001_create_users.down.sql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000002_add_phone_to_users.up.sql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000002_add_phone_to_users.down.sql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000003_split_user_name.up.sql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000003_split_user_name.down.sql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06722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Nomor urut di depan menentukan urutan eksekusi.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Perintah dasar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36192"/>
            <a:ext cx="10637215" cy="1393952"/>
          </a:xfrm>
          <a:prstGeom prst="roundRect">
            <a:avLst>
              <a:gd name="adj" fmla="val 4000"/>
            </a:avLst>
          </a:prstGeom>
          <a:solidFill>
            <a:srgbClr val="ECF2F6"/>
          </a:solidFill>
          <a:ln w="9525">
            <a:solidFill>
              <a:srgbClr val="C9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5448" tIns="82296" bIns="82296"/>
          <a:lstStyle/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migrate up              # jalankan semua yang belum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migrate down 1          # mundur satu langkah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migrate version         # cek versi sekarang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migrate force 3         # set versi secara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Tabel schema_migrations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36192"/>
            <a:ext cx="10637215" cy="538988"/>
          </a:xfrm>
          <a:prstGeom prst="roundRect">
            <a:avLst>
              <a:gd name="adj" fmla="val 4000"/>
            </a:avLst>
          </a:prstGeom>
          <a:solidFill>
            <a:srgbClr val="ECF2F6"/>
          </a:solidFill>
          <a:ln w="9525">
            <a:solidFill>
              <a:srgbClr val="C9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5448" tIns="82296" bIns="82296"/>
          <a:lstStyle/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SELECT * FROM schema_migrations;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94635"/>
            <a:ext cx="10637215" cy="1108964"/>
          </a:xfrm>
          <a:prstGeom prst="roundRect">
            <a:avLst>
              <a:gd name="adj" fmla="val 4000"/>
            </a:avLst>
          </a:prstGeom>
          <a:solidFill>
            <a:srgbClr val="ECF2F6"/>
          </a:solidFill>
          <a:ln w="9525">
            <a:solidFill>
              <a:srgbClr val="C9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5448" tIns="82296" bIns="82296"/>
          <a:lstStyle/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version | dirty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---------+-------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      4 |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23056"/>
            <a:ext cx="10637215" cy="693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Dua kolom.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version</a:t>
            </a:r>
            <a:r>
              <a:rPr sz="2100" b="0">
                <a:solidFill>
                  <a:srgbClr val="212C38"/>
                </a:solidFill>
                <a:latin typeface="Arial"/>
              </a:rPr>
              <a:t> adalah migration terakhir yang berhasil,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dirty</a:t>
            </a:r>
            <a:r>
              <a:rPr sz="2100" b="0">
                <a:solidFill>
                  <a:srgbClr val="212C38"/>
                </a:solidFill>
                <a:latin typeface="Arial"/>
              </a:rPr>
              <a:t> menandakan ada migration yang gagal di tengah.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71924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Ini seluruh state yang disimpan golang-migrate.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Kolom dirty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6192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Urutan yang dilakukan setiap menjalankan satu migration: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38349"/>
            <a:ext cx="10637215" cy="1312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1.  </a:t>
            </a:r>
            <a:r>
              <a:rPr sz="2100" b="0">
                <a:solidFill>
                  <a:srgbClr val="212C38"/>
                </a:solidFill>
                <a:latin typeface="Arial"/>
              </a:rPr>
              <a:t>Tulis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version = N</a:t>
            </a:r>
            <a:r>
              <a:rPr sz="2100" b="0">
                <a:solidFill>
                  <a:srgbClr val="212C38"/>
                </a:solidFill>
                <a:latin typeface="Arial"/>
              </a:rPr>
              <a:t>,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dirty = true</a:t>
            </a:r>
          </a:p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2.  </a:t>
            </a:r>
            <a:r>
              <a:rPr sz="2100" b="0">
                <a:solidFill>
                  <a:srgbClr val="212C38"/>
                </a:solidFill>
                <a:latin typeface="Arial"/>
              </a:rPr>
              <a:t>Jalankan SQL-nya</a:t>
            </a:r>
          </a:p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3.  </a:t>
            </a:r>
            <a:r>
              <a:rPr sz="2100" b="0">
                <a:solidFill>
                  <a:srgbClr val="212C38"/>
                </a:solidFill>
                <a:latin typeface="Arial"/>
              </a:rPr>
              <a:t>Kalau berhasil, set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dirty =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33394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Kalau langkah 2 gagal,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dirty</a:t>
            </a:r>
            <a:r>
              <a:rPr sz="2100" b="0">
                <a:solidFill>
                  <a:srgbClr val="212C38"/>
                </a:solidFill>
                <a:latin typeface="Arial"/>
              </a:rPr>
              <a:t> tetap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true</a:t>
            </a:r>
            <a:r>
              <a:rPr sz="2100" b="0">
                <a:solidFill>
                  <a:srgbClr val="212C38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035552"/>
            <a:ext cx="10637215" cy="538988"/>
          </a:xfrm>
          <a:prstGeom prst="roundRect">
            <a:avLst>
              <a:gd name="adj" fmla="val 4000"/>
            </a:avLst>
          </a:prstGeom>
          <a:solidFill>
            <a:srgbClr val="ECF2F6"/>
          </a:solidFill>
          <a:ln w="9525">
            <a:solidFill>
              <a:srgbClr val="C9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5448" tIns="82296" bIns="82296"/>
          <a:lstStyle/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MIGRATION GAGAL: Dirty database version 2. Fix and force version.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93996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golang-migrate menolak jalan lagi sampai diperbaiki manual.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Contoh migration yang bikin dirty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36192"/>
            <a:ext cx="10637215" cy="538988"/>
          </a:xfrm>
          <a:prstGeom prst="roundRect">
            <a:avLst>
              <a:gd name="adj" fmla="val 4000"/>
            </a:avLst>
          </a:prstGeom>
          <a:solidFill>
            <a:srgbClr val="ECF2F6"/>
          </a:solidFill>
          <a:ln w="9525">
            <a:solidFill>
              <a:srgbClr val="C9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5448" tIns="82296" bIns="82296"/>
          <a:lstStyle/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ALTER TABLE orders ADD COLUMN status TEXT NOT NULL;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94635"/>
            <a:ext cx="10637215" cy="693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Postgres harus mengisi nilai untuk semua baris yang sudah ada. Tanpa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DEFAULT</a:t>
            </a:r>
            <a:r>
              <a:rPr sz="2100" b="0">
                <a:solidFill>
                  <a:srgbClr val="212C38"/>
                </a:solidFill>
                <a:latin typeface="Arial"/>
              </a:rPr>
              <a:t>, yang bisa diisi cuma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NULL</a:t>
            </a:r>
            <a:r>
              <a:rPr sz="2100" b="0">
                <a:solidFill>
                  <a:srgbClr val="212C38"/>
                </a:solidFill>
                <a:latin typeface="Arial"/>
              </a:rPr>
              <a:t>, padahal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NOT NULL</a:t>
            </a:r>
            <a:r>
              <a:rPr sz="2100" b="0">
                <a:solidFill>
                  <a:srgbClr val="212C38"/>
                </a:solidFill>
                <a:latin typeface="Arial"/>
              </a:rPr>
              <a:t> melarang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NULL</a:t>
            </a:r>
            <a:r>
              <a:rPr sz="2100" b="0">
                <a:solidFill>
                  <a:srgbClr val="212C38"/>
                </a:solidFill>
                <a:latin typeface="Arial"/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3253231"/>
          <a:ext cx="10637215" cy="140588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18607"/>
                <a:gridCol w="5318608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11A24"/>
                          </a:solidFill>
                          <a:latin typeface="Arial"/>
                        </a:rPr>
                        <a:t>Isi tabel</a:t>
                      </a:r>
                    </a:p>
                  </a:txBody>
                  <a:tcPr marL="118872" marR="118872" marT="36576" marB="36576" anchor="ctr">
                    <a:solidFill>
                      <a:srgbClr val="DD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11A24"/>
                          </a:solidFill>
                          <a:latin typeface="Arial"/>
                        </a:rPr>
                        <a:t>Hasil</a:t>
                      </a:r>
                    </a:p>
                  </a:txBody>
                  <a:tcPr marL="118872" marR="118872" marT="36576" marB="36576" anchor="ctr">
                    <a:solidFill>
                      <a:srgbClr val="DDEFF6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0 baris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Berhasil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Ada isinya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Gagal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878578"/>
            <a:ext cx="10637215" cy="693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Database lokal dan CI biasanya kosong, production nggak. Karena itu kesalahan ini sering baru ketahuan di production.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27445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Perbaikannya: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... NOT NULL DEFAULT 'pending'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Advisory 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6192"/>
            <a:ext cx="10637215" cy="693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Kalau beberapa pod deploy bersamaan, semuanya akan mencoba menjalankan migration.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85060"/>
            <a:ext cx="10637215" cy="693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golang-migrate mengambil advisory lock di Postgres, sehingga hanya satu proses yang jalan dan sisanya menunggu.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Embed migration ke binary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36192"/>
            <a:ext cx="10637215" cy="823976"/>
          </a:xfrm>
          <a:prstGeom prst="roundRect">
            <a:avLst>
              <a:gd name="adj" fmla="val 4000"/>
            </a:avLst>
          </a:prstGeom>
          <a:solidFill>
            <a:srgbClr val="ECF2F6"/>
          </a:solidFill>
          <a:ln w="9525">
            <a:solidFill>
              <a:srgbClr val="C9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5448" tIns="82296" bIns="82296"/>
          <a:lstStyle/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//go:embed migrations/*.sql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var migrationFiles embed.FS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79623"/>
            <a:ext cx="10637215" cy="693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Migration ikut masuk ke dalam binary, jadi deploy cukup mengirim satu file dan nggak perlu memastikan folder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migrations/</a:t>
            </a:r>
            <a:r>
              <a:rPr sz="2100" b="0">
                <a:solidFill>
                  <a:srgbClr val="212C38"/>
                </a:solidFill>
                <a:latin typeface="Arial"/>
              </a:rPr>
              <a:t> ikut terbawa.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Batasan down migration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6192"/>
            <a:ext cx="10637215" cy="10401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Down migration nggak membatalkan apa pun. Dia cuma menjalankan SQL yang kita tulis sendiri, jadi cuma bisa mengembalikan informasi yang masih tersimpan di tempat lain.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31770"/>
            <a:ext cx="10637215" cy="1678940"/>
          </a:xfrm>
          <a:prstGeom prst="roundRect">
            <a:avLst>
              <a:gd name="adj" fmla="val 4000"/>
            </a:avLst>
          </a:prstGeom>
          <a:solidFill>
            <a:srgbClr val="ECF2F6"/>
          </a:solidFill>
          <a:ln w="9525">
            <a:solidFill>
              <a:srgbClr val="C9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5448" tIns="82296" bIns="82296"/>
          <a:lstStyle/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-- 000002_add_phone_to_users.up.sql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ALTER TABLE users ADD COLUMN phone TEXT;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 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-- 000002_add_phone_to_users.down.sql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ALTER TABLE users DROP COLUMN phone;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630166"/>
            <a:ext cx="10637215" cy="693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Nggak ada kolom lain yang menyimpan nomor HP. Rollback menghapus datanya permanen, dan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up</a:t>
            </a:r>
            <a:r>
              <a:rPr sz="2100" b="0">
                <a:solidFill>
                  <a:srgbClr val="212C38"/>
                </a:solidFill>
                <a:latin typeface="Arial"/>
              </a:rPr>
              <a:t> lagi cuma mengembalikan kolomnya dalam keadaan kosong.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Kasus yang kelihatan berhasil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6192"/>
            <a:ext cx="10637215" cy="693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Di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000004</a:t>
            </a:r>
            <a:r>
              <a:rPr sz="2100" b="0">
                <a:solidFill>
                  <a:srgbClr val="212C38"/>
                </a:solidFill>
                <a:latin typeface="Arial"/>
              </a:rPr>
              <a:t> kolom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name</a:t>
            </a:r>
            <a:r>
              <a:rPr sz="2100" b="0">
                <a:solidFill>
                  <a:srgbClr val="212C38"/>
                </a:solidFill>
                <a:latin typeface="Arial"/>
              </a:rPr>
              <a:t> dihapus, dan file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.down.sql</a:t>
            </a:r>
            <a:r>
              <a:rPr sz="2100" b="0">
                <a:solidFill>
                  <a:srgbClr val="212C38"/>
                </a:solidFill>
                <a:latin typeface="Arial"/>
              </a:rPr>
              <a:t>-nya menyusun ulang dari kolom lain: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85060"/>
            <a:ext cx="10637215" cy="823976"/>
          </a:xfrm>
          <a:prstGeom prst="roundRect">
            <a:avLst>
              <a:gd name="adj" fmla="val 4000"/>
            </a:avLst>
          </a:prstGeom>
          <a:solidFill>
            <a:srgbClr val="ECF2F6"/>
          </a:solidFill>
          <a:ln w="9525">
            <a:solidFill>
              <a:srgbClr val="C9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5448" tIns="82296" bIns="82296"/>
          <a:lstStyle/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ALTER TABLE users ADD COLUMN name TEXT;</a:t>
            </a:r>
          </a:p>
          <a:p>
            <a:pPr algn="l">
              <a:lnSpc>
                <a:spcPct val="106000"/>
              </a:lnSpc>
            </a:pPr>
            <a:r>
              <a:rPr sz="1700">
                <a:solidFill>
                  <a:srgbClr val="0E1A26"/>
                </a:solidFill>
                <a:latin typeface="JetBrains Mono"/>
              </a:rPr>
              <a:t>UPDATE users SET name = concat_ws(' ', first_name, last_name);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8492"/>
            <a:ext cx="10637215" cy="10401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Ini memang berhasil. Tapi bukan karena down migration bisa mengembalikan data — melainkan karena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000003</a:t>
            </a:r>
            <a:r>
              <a:rPr sz="2100" b="0">
                <a:solidFill>
                  <a:srgbClr val="212C38"/>
                </a:solidFill>
                <a:latin typeface="Arial"/>
              </a:rPr>
              <a:t> sengaja menyimpan informasi yang sama di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first_name</a:t>
            </a:r>
            <a:r>
              <a:rPr sz="2100" b="0">
                <a:solidFill>
                  <a:srgbClr val="212C38"/>
                </a:solidFill>
                <a:latin typeface="Arial"/>
              </a:rPr>
              <a:t> dan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last_name</a:t>
            </a:r>
            <a:r>
              <a:rPr sz="2100" b="0">
                <a:solidFill>
                  <a:srgbClr val="212C38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624070"/>
            <a:ext cx="10637215" cy="693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Kalau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first_name</a:t>
            </a:r>
            <a:r>
              <a:rPr sz="2100" b="0">
                <a:solidFill>
                  <a:srgbClr val="212C38"/>
                </a:solidFill>
                <a:latin typeface="Arial"/>
              </a:rPr>
              <a:t> sempat diubah user sebelum rollback, hasilnya jadi nilai baru yang kelihatan wajar tapi bukan data aslinya.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Kapan down migration berguna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6192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Intinya: down migration itu menghitung ulang, bukan mengembalikan.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38349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212C38"/>
                </a:solidFill>
                <a:latin typeface="Arial"/>
              </a:rPr>
              <a:t>Di lokal</a:t>
            </a:r>
            <a:r>
              <a:rPr sz="2100" b="0">
                <a:solidFill>
                  <a:srgbClr val="212C38"/>
                </a:solidFill>
                <a:latin typeface="Arial"/>
              </a:rPr>
              <a:t>, down berguna: salah bikin migration, mundur, perbaiki.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40508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212C38"/>
                </a:solidFill>
                <a:latin typeface="Arial"/>
              </a:rPr>
              <a:t>Di production</a:t>
            </a:r>
            <a:r>
              <a:rPr sz="2100" b="0">
                <a:solidFill>
                  <a:srgbClr val="212C38"/>
                </a:solidFill>
                <a:latin typeface="Arial"/>
              </a:rPr>
              <a:t>, lebih aman roll forward: bikin migration baru yang memperbaiki.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42665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Yang mengembalikan data saat darurat adalah backup, bukan file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.down.sql</a:t>
            </a:r>
            <a:r>
              <a:rPr sz="2100" b="0">
                <a:solidFill>
                  <a:srgbClr val="212C38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Expand–contract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6192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Perubahan dipecah jadi beberapa deploy terpisah.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38349"/>
            <a:ext cx="10637215" cy="1312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1.  </a:t>
            </a:r>
            <a:r>
              <a:rPr sz="2100" b="1">
                <a:solidFill>
                  <a:srgbClr val="212C38"/>
                </a:solidFill>
                <a:latin typeface="Arial"/>
              </a:rPr>
              <a:t>Expand</a:t>
            </a:r>
            <a:r>
              <a:rPr sz="2100" b="0">
                <a:solidFill>
                  <a:srgbClr val="212C38"/>
                </a:solidFill>
                <a:latin typeface="Arial"/>
              </a:rPr>
              <a:t> — tambah kolom baru dan isi datanya, kolom lama dibiarkan</a:t>
            </a:r>
          </a:p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2.  </a:t>
            </a:r>
            <a:r>
              <a:rPr sz="2100" b="1">
                <a:solidFill>
                  <a:srgbClr val="212C38"/>
                </a:solidFill>
                <a:latin typeface="Arial"/>
              </a:rPr>
              <a:t>Migrate</a:t>
            </a:r>
            <a:r>
              <a:rPr sz="2100" b="0">
                <a:solidFill>
                  <a:srgbClr val="212C38"/>
                </a:solidFill>
                <a:latin typeface="Arial"/>
              </a:rPr>
              <a:t> — update semua service supaya pakai kolom baru</a:t>
            </a:r>
          </a:p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3.  </a:t>
            </a:r>
            <a:r>
              <a:rPr sz="2100" b="1">
                <a:solidFill>
                  <a:srgbClr val="212C38"/>
                </a:solidFill>
                <a:latin typeface="Arial"/>
              </a:rPr>
              <a:t>Contract</a:t>
            </a:r>
            <a:r>
              <a:rPr sz="2100" b="0">
                <a:solidFill>
                  <a:srgbClr val="212C38"/>
                </a:solidFill>
                <a:latin typeface="Arial"/>
              </a:rPr>
              <a:t> — hapus kolom 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33394"/>
            <a:ext cx="10637215" cy="693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Alasannya: saat migration jalan, kode versi lama masih hidup dan masih membaca kolom lama. Kalau langsung dihapus, request ke kode lama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82262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Contohnya ada di repo, migration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000003</a:t>
            </a:r>
            <a:r>
              <a:rPr sz="2100" b="0">
                <a:solidFill>
                  <a:srgbClr val="212C38"/>
                </a:solidFill>
                <a:latin typeface="Arial"/>
              </a:rPr>
              <a:t> dan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000004</a:t>
            </a:r>
            <a:r>
              <a:rPr sz="2100" b="0">
                <a:solidFill>
                  <a:srgbClr val="212C38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Inti dari migration runner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6192"/>
            <a:ext cx="10637215" cy="17495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1.  </a:t>
            </a:r>
            <a:r>
              <a:rPr sz="2100" b="0">
                <a:solidFill>
                  <a:srgbClr val="212C38"/>
                </a:solidFill>
                <a:latin typeface="Arial"/>
              </a:rPr>
              <a:t>Baca versi database sekarang</a:t>
            </a:r>
          </a:p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2.  </a:t>
            </a:r>
            <a:r>
              <a:rPr sz="2100" b="0">
                <a:solidFill>
                  <a:srgbClr val="212C38"/>
                </a:solidFill>
                <a:latin typeface="Arial"/>
              </a:rPr>
              <a:t>Ambil file yang nomornya lebih besar dari versi itu</a:t>
            </a:r>
          </a:p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3.  </a:t>
            </a:r>
            <a:r>
              <a:rPr sz="2100" b="0">
                <a:solidFill>
                  <a:srgbClr val="212C38"/>
                </a:solidFill>
                <a:latin typeface="Arial"/>
              </a:rPr>
              <a:t>Jalankan berurutan di dalam transaksi</a:t>
            </a:r>
          </a:p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4.  </a:t>
            </a:r>
            <a:r>
              <a:rPr sz="2100" b="0">
                <a:solidFill>
                  <a:srgbClr val="212C38"/>
                </a:solidFill>
                <a:latin typeface="Arial"/>
              </a:rPr>
              <a:t>Update versinya di transaksi yang sama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68623"/>
            <a:ext cx="10637215" cy="693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Langkah 3 dan 4 harus dalam satu transaksi, supaya nggak terjadi kondisi SQL-nya sudah jalan tapi versinya belum tercatat.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17491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Implementasi lengkapnya ada di repo: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03-mini-runner/</a:t>
            </a:r>
            <a:r>
              <a:rPr sz="2100" b="0">
                <a:solidFill>
                  <a:srgbClr val="212C38"/>
                </a:solidFill>
                <a:latin typeface="Arial"/>
              </a:rPr>
              <a:t>, sekitar 90 baris.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Ringkasan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64207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111A24"/>
                </a:solidFill>
                <a:latin typeface="Arial"/>
              </a:rPr>
              <a:t>AutoMigrate adalah schema sync-er, bukan migration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38349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Cocok untuk lokal, bukan untuk production.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68524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111A24"/>
                </a:solidFill>
                <a:latin typeface="Arial"/>
              </a:rPr>
              <a:t>Migration tool menyimpan state yang sederhana.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42666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Satu tabel versi, file terurut, dan transaksi.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72840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111A24"/>
                </a:solidFill>
                <a:latin typeface="Arial"/>
              </a:rPr>
              <a:t>Down migration untuk lokal, production roll forward.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46982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Pemulihan data mengandalkan backup.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Praktik yang disarankan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6192"/>
            <a:ext cx="10637215" cy="2186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•   </a:t>
            </a:r>
            <a:r>
              <a:rPr sz="2100" b="0">
                <a:solidFill>
                  <a:srgbClr val="212C38"/>
                </a:solidFill>
                <a:latin typeface="Arial"/>
              </a:rPr>
              <a:t>Jangan mengubah file migration yang sudah jalan di production</a:t>
            </a:r>
          </a:p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•   </a:t>
            </a:r>
            <a:r>
              <a:rPr sz="2100" b="0">
                <a:solidFill>
                  <a:srgbClr val="212C38"/>
                </a:solidFill>
                <a:latin typeface="Arial"/>
              </a:rPr>
              <a:t>Kolom baru dibuat nullable atau diberi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DEFAULT</a:t>
            </a:r>
          </a:p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•   </a:t>
            </a:r>
            <a:r>
              <a:rPr sz="2100" b="0">
                <a:solidFill>
                  <a:srgbClr val="212C38"/>
                </a:solidFill>
                <a:latin typeface="Arial"/>
              </a:rPr>
              <a:t>Jalankan migration sebelum deploy aplikasi, bukan bersamaan</a:t>
            </a:r>
          </a:p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•   </a:t>
            </a:r>
            <a:r>
              <a:rPr sz="2100" b="0">
                <a:solidFill>
                  <a:srgbClr val="212C38"/>
                </a:solidFill>
                <a:latin typeface="Arial"/>
              </a:rPr>
              <a:t>Buat index dengan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CREATE INDEX CONCURRENTLY</a:t>
            </a:r>
            <a:r>
              <a:rPr sz="2100" b="0">
                <a:solidFill>
                  <a:srgbClr val="212C38"/>
                </a:solidFill>
                <a:latin typeface="Arial"/>
              </a:rPr>
              <a:t> di tabel besar</a:t>
            </a:r>
          </a:p>
          <a:p>
            <a:pPr>
              <a:lnSpc>
                <a:spcPct val="128000"/>
              </a:lnSpc>
              <a:spcAft>
                <a:spcPts val="714"/>
              </a:spcAft>
            </a:pPr>
            <a:r>
              <a:rPr sz="2100" b="1">
                <a:solidFill>
                  <a:srgbClr val="008CB0"/>
                </a:solidFill>
                <a:latin typeface="Arial"/>
              </a:rPr>
              <a:t>•   </a:t>
            </a:r>
            <a:r>
              <a:rPr sz="2100" b="0">
                <a:solidFill>
                  <a:srgbClr val="212C38"/>
                </a:solidFill>
                <a:latin typeface="Arial"/>
              </a:rPr>
              <a:t>Backfill data adalah bagian dari migration, bukan langkah terpisah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Tool lain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645919"/>
          <a:ext cx="10637215" cy="234314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18607"/>
                <a:gridCol w="5318608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11A24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marL="118872" marR="118872" marT="36576" marB="36576" anchor="ctr">
                    <a:solidFill>
                      <a:srgbClr val="DD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11A24"/>
                          </a:solidFill>
                          <a:latin typeface="Arial"/>
                        </a:rPr>
                        <a:t>Catatan</a:t>
                      </a:r>
                    </a:p>
                  </a:txBody>
                  <a:tcPr marL="118872" marR="118872" marT="36576" marB="36576" anchor="ctr">
                    <a:solidFill>
                      <a:srgbClr val="DDEFF6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12C38"/>
                          </a:solidFill>
                          <a:latin typeface="Arial"/>
                        </a:rPr>
                        <a:t>golang-migrate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Paling umum dipakai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12C38"/>
                          </a:solidFill>
                          <a:latin typeface="Arial"/>
                        </a:rPr>
                        <a:t>goose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Serupa, migration bisa ditulis dengan Go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12C38"/>
                          </a:solidFill>
                          <a:latin typeface="Arial"/>
                        </a:rPr>
                        <a:t>atlas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Deklaratif, SQL-nya digenerate dari deklarasi schema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12C38"/>
                          </a:solidFill>
                          <a:latin typeface="Arial"/>
                        </a:rPr>
                        <a:t>GORM AutoMigrate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12C38"/>
                          </a:solidFill>
                          <a:latin typeface="Arial"/>
                        </a:rPr>
                        <a:t>Lokal dan prototyping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395728"/>
            <a:ext cx="1371600" cy="68580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600" b="1">
                <a:solidFill>
                  <a:srgbClr val="111A24"/>
                </a:solidFill>
                <a:latin typeface="Arial"/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40" b="1">
                <a:solidFill>
                  <a:srgbClr val="008CB0"/>
                </a:solidFill>
                <a:latin typeface="JetBrains Mono"/>
              </a:rPr>
              <a:t>github.com/shariski/go-migration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310128"/>
            <a:ext cx="10637215" cy="1762760"/>
          </a:xfrm>
          <a:prstGeom prst="roundRect">
            <a:avLst>
              <a:gd name="adj" fmla="val 4000"/>
            </a:avLst>
          </a:prstGeom>
          <a:solidFill>
            <a:srgbClr val="ECF2F6"/>
          </a:solidFill>
          <a:ln w="9525">
            <a:solidFill>
              <a:srgbClr val="C9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55448" tIns="82296" bIns="82296"/>
          <a:lstStyle/>
          <a:p>
            <a:pPr algn="l">
              <a:lnSpc>
                <a:spcPct val="106000"/>
              </a:lnSpc>
            </a:pPr>
            <a:r>
              <a:rPr sz="1500">
                <a:solidFill>
                  <a:srgbClr val="0E1A26"/>
                </a:solidFill>
                <a:latin typeface="JetBrains Mono"/>
              </a:rPr>
              <a:t>make up</a:t>
            </a:r>
          </a:p>
          <a:p>
            <a:pPr algn="l">
              <a:lnSpc>
                <a:spcPct val="106000"/>
              </a:lnSpc>
            </a:pPr>
            <a:r>
              <a:rPr sz="1500">
                <a:solidFill>
                  <a:srgbClr val="0E1A26"/>
                </a:solidFill>
                <a:latin typeface="JetBrains Mono"/>
              </a:rPr>
              <a:t>make demo-gorm        # AutoMigrate nggak drop kolom</a:t>
            </a:r>
          </a:p>
          <a:p>
            <a:pPr algn="l">
              <a:lnSpc>
                <a:spcPct val="106000"/>
              </a:lnSpc>
            </a:pPr>
            <a:r>
              <a:rPr sz="1500">
                <a:solidFill>
                  <a:srgbClr val="0E1A26"/>
                </a:solidFill>
                <a:latin typeface="JetBrains Mono"/>
              </a:rPr>
              <a:t>make demo-migrate     # isi tabel schema_migrations</a:t>
            </a:r>
          </a:p>
          <a:p>
            <a:pPr algn="l">
              <a:lnSpc>
                <a:spcPct val="106000"/>
              </a:lnSpc>
            </a:pPr>
            <a:r>
              <a:rPr sz="1500">
                <a:solidFill>
                  <a:srgbClr val="0E1A26"/>
                </a:solidFill>
                <a:latin typeface="JetBrains Mono"/>
              </a:rPr>
              <a:t>make demo-rollback    # batasan down migration</a:t>
            </a:r>
          </a:p>
          <a:p>
            <a:pPr algn="l">
              <a:lnSpc>
                <a:spcPct val="106000"/>
              </a:lnSpc>
            </a:pPr>
            <a:r>
              <a:rPr sz="1500">
                <a:solidFill>
                  <a:srgbClr val="0E1A26"/>
                </a:solidFill>
                <a:latin typeface="JetBrains Mono"/>
              </a:rPr>
              <a:t>make demo-dirty       # migration gagal di tengah</a:t>
            </a:r>
          </a:p>
          <a:p>
            <a:pPr algn="l">
              <a:lnSpc>
                <a:spcPct val="106000"/>
              </a:lnSpc>
            </a:pPr>
            <a:r>
              <a:rPr sz="1500">
                <a:solidFill>
                  <a:srgbClr val="0E1A26"/>
                </a:solidFill>
                <a:latin typeface="JetBrains Mono"/>
              </a:rPr>
              <a:t>make demo-mini        # migration runner sederhana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55768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212C38"/>
                </a:solidFill>
                <a:latin typeface="Arial"/>
              </a:rPr>
              <a:t>Falahudin Halim Shariski</a:t>
            </a:r>
            <a:r>
              <a:rPr sz="2000" b="0">
                <a:solidFill>
                  <a:srgbClr val="212C38"/>
                </a:solidFill>
                <a:latin typeface="Arial"/>
              </a:rPr>
              <a:t> — Technical Lead, AIG Nusa Hub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Catatan tambahan untuk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64207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111A24"/>
                </a:solidFill>
                <a:latin typeface="Arial"/>
              </a:rPr>
              <a:t>Tabel dengan jutaan baris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38349"/>
            <a:ext cx="10637215" cy="1386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890" b="0">
                <a:solidFill>
                  <a:srgbClr val="212C38"/>
                </a:solidFill>
                <a:latin typeface="JetBrains Mono"/>
              </a:rPr>
              <a:t>ADD COLUMN</a:t>
            </a:r>
            <a:r>
              <a:rPr sz="2100" b="0">
                <a:solidFill>
                  <a:srgbClr val="212C38"/>
                </a:solidFill>
                <a:latin typeface="Arial"/>
              </a:rPr>
              <a:t> nullable atau dengan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DEFAULT</a:t>
            </a:r>
            <a:r>
              <a:rPr sz="2100" b="0">
                <a:solidFill>
                  <a:srgbClr val="212C38"/>
                </a:solidFill>
                <a:latin typeface="Arial"/>
              </a:rPr>
              <a:t> nilai tetap di Postgres 11+ cepat, cuma mengubah metadata. Yang lama: bikin index tanpa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CONCURRENTLY</a:t>
            </a:r>
            <a:r>
              <a:rPr sz="2100" b="0">
                <a:solidFill>
                  <a:srgbClr val="212C38"/>
                </a:solidFill>
                <a:latin typeface="Arial"/>
              </a:rPr>
              <a:t> dan ubah tipe kolom, karena tabelnya ditulis ulang.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ADD COLUMN NOT NULL</a:t>
            </a:r>
            <a:r>
              <a:rPr sz="2100" b="0">
                <a:solidFill>
                  <a:srgbClr val="212C38"/>
                </a:solidFill>
                <a:latin typeface="Arial"/>
              </a:rPr>
              <a:t> tanpa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DEFAULT</a:t>
            </a:r>
            <a:r>
              <a:rPr sz="2100" b="0">
                <a:solidFill>
                  <a:srgbClr val="212C38"/>
                </a:solidFill>
                <a:latin typeface="Arial"/>
              </a:rPr>
              <a:t> bukan lambat, tapi langsung gagal kalau tabelnya ada isinya.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08654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111A24"/>
                </a:solidFill>
                <a:latin typeface="Arial"/>
              </a:rPr>
              <a:t>Migration dijalankan di mana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82796"/>
            <a:ext cx="10637215" cy="693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Lebih aman sebagai step terpisah sebelum deploy. Kalau dipanggil di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main()</a:t>
            </a:r>
            <a:r>
              <a:rPr sz="2100" b="0">
                <a:solidFill>
                  <a:srgbClr val="212C38"/>
                </a:solidFill>
                <a:latin typeface="Arial"/>
              </a:rPr>
              <a:t>, semua pod menjalankan bersamaan dan mengandalkan advisory lock.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59679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111A24"/>
                </a:solidFill>
                <a:latin typeface="Arial"/>
              </a:rPr>
              <a:t>Pindah dari AutoMigrate ke golang-migrate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433821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Dump schema yang sudah ada jadi </a:t>
            </a:r>
            <a:r>
              <a:rPr sz="1890" b="0">
                <a:solidFill>
                  <a:srgbClr val="212C38"/>
                </a:solidFill>
                <a:latin typeface="JetBrains Mono"/>
              </a:rPr>
              <a:t>000001_init.up.sql</a:t>
            </a:r>
            <a:r>
              <a:rPr sz="2100" b="0">
                <a:solidFill>
                  <a:srgbClr val="212C38"/>
                </a:solidFill>
                <a:latin typeface="Arial"/>
              </a:rPr>
              <a:t>, lanjutkan manual dari situ.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11A24"/>
                </a:solidFill>
                <a:latin typeface="Arial"/>
              </a:rPr>
              <a:t>Catatan tambahan untuk Q&amp;A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960120" cy="50292"/>
          </a:xfrm>
          <a:prstGeom prst="rect">
            <a:avLst/>
          </a:prstGeom>
          <a:solidFill>
            <a:srgbClr val="00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64207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111A24"/>
                </a:solidFill>
                <a:latin typeface="Arial"/>
              </a:rPr>
              <a:t>Seed data di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38349"/>
            <a:ext cx="10637215" cy="693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Data referensi seperti daftar provinsi atau status order boleh. Data dummy sebaiknya nggak, karena ikut terbawa ke production.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15234"/>
            <a:ext cx="10637215" cy="346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111A24"/>
                </a:solidFill>
                <a:latin typeface="Arial"/>
              </a:rPr>
              <a:t>Kenapa dirty nggak bisa pulih otomatis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89376"/>
            <a:ext cx="10637215" cy="693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0">
                <a:solidFill>
                  <a:srgbClr val="212C38"/>
                </a:solidFill>
                <a:latin typeface="Arial"/>
              </a:rPr>
              <a:t>Tool nggak tahu SQL-nya sudah jalan sampai statement ke berapa. Di MySQL lebih rumit karena DDL memicu commit otomatis.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>
                <a:solidFill>
                  <a:srgbClr val="626E7B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